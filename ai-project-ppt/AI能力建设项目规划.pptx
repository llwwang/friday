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38BDF8"/>
                </a:solidFill>
              </a:defRPr>
            </a:pPr>
            <a:r>
              <a:t>大数据运维AI能力建设项目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127729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>
                <a:solidFill>
                  <a:srgbClr val="94A3B8"/>
                </a:solidFill>
              </a:defRPr>
            </a:pPr>
            <a:r>
              <a:t>Big Data Operations AI Capability Building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645920"/>
            <a:ext cx="3657600" cy="4572000"/>
          </a:xfrm>
          <a:prstGeom prst="roundRect">
            <a:avLst/>
          </a:prstGeom>
          <a:solidFill>
            <a:srgbClr val="1E293B"/>
          </a:solidFill>
          <a:ln w="254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1645920"/>
            <a:ext cx="3657600" cy="13716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920240"/>
            <a:ext cx="32918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3B82F6"/>
                </a:solidFill>
              </a:defRPr>
            </a:pPr>
            <a:r>
              <a:t>Phase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377440"/>
            <a:ext cx="32918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FFFFFF"/>
                </a:solidFill>
              </a:defRPr>
            </a:pPr>
            <a:r>
              <a:t>for一线 - 工单机器人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926080"/>
            <a:ext cx="329184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400">
                <a:solidFill>
                  <a:srgbClr val="CBD5E1"/>
                </a:solidFill>
              </a:defRPr>
            </a:pPr>
            <a:r>
              <a:t>• 工单问答机器人</a:t>
            </a:r>
          </a:p>
          <a:p>
            <a:pPr>
              <a:spcAft>
                <a:spcPts val="1200"/>
              </a:spcAft>
              <a:defRPr sz="1400">
                <a:solidFill>
                  <a:srgbClr val="CBD5E1"/>
                </a:solidFill>
              </a:defRPr>
            </a:pPr>
            <a:r>
              <a:t>• 基于现有知识库自动回应</a:t>
            </a:r>
          </a:p>
          <a:p>
            <a:pPr>
              <a:spcAft>
                <a:spcPts val="1200"/>
              </a:spcAft>
              <a:defRPr sz="1400">
                <a:solidFill>
                  <a:srgbClr val="CBD5E1"/>
                </a:solidFill>
              </a:defRPr>
            </a:pPr>
            <a:r>
              <a:t>• 解决不了继续提单</a:t>
            </a:r>
          </a:p>
          <a:p>
            <a:pPr>
              <a:spcAft>
                <a:spcPts val="1200"/>
              </a:spcAft>
              <a:defRPr sz="1400">
                <a:solidFill>
                  <a:srgbClr val="CBD5E1"/>
                </a:solidFill>
              </a:defRPr>
            </a:pPr>
            <a:r>
              <a:t>• 降低咨询工单量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66590" y="1645920"/>
            <a:ext cx="3657600" cy="4572000"/>
          </a:xfrm>
          <a:prstGeom prst="roundRect">
            <a:avLst/>
          </a:prstGeom>
          <a:solidFill>
            <a:srgbClr val="1E293B"/>
          </a:solidFill>
          <a:ln w="2540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266590" y="1645920"/>
            <a:ext cx="3657600" cy="13716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449470" y="1920240"/>
            <a:ext cx="32918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22C55E"/>
                </a:solidFill>
              </a:defRPr>
            </a:pPr>
            <a:r>
              <a:t>Phase 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49470" y="2377440"/>
            <a:ext cx="32918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FFFFFF"/>
                </a:solidFill>
              </a:defRPr>
            </a:pPr>
            <a:r>
              <a:t>for二线 - 内部问答平台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49470" y="2926080"/>
            <a:ext cx="329184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400">
                <a:solidFill>
                  <a:srgbClr val="CBD5E1"/>
                </a:solidFill>
              </a:defRPr>
            </a:pPr>
            <a:r>
              <a:t>• 研发内部问答平台</a:t>
            </a:r>
          </a:p>
          <a:p>
            <a:pPr>
              <a:spcAft>
                <a:spcPts val="1200"/>
              </a:spcAft>
              <a:defRPr sz="1400">
                <a:solidFill>
                  <a:srgbClr val="CBD5E1"/>
                </a:solidFill>
              </a:defRPr>
            </a:pPr>
            <a:r>
              <a:t>• 结合MCP协议</a:t>
            </a:r>
          </a:p>
          <a:p>
            <a:pPr>
              <a:spcAft>
                <a:spcPts val="1200"/>
              </a:spcAft>
              <a:defRPr sz="1400">
                <a:solidFill>
                  <a:srgbClr val="CBD5E1"/>
                </a:solidFill>
              </a:defRPr>
            </a:pPr>
            <a:r>
              <a:t>• Agent技术拉通代码</a:t>
            </a:r>
          </a:p>
          <a:p>
            <a:pPr>
              <a:spcAft>
                <a:spcPts val="1200"/>
              </a:spcAft>
              <a:defRPr sz="1400">
                <a:solidFill>
                  <a:srgbClr val="CBD5E1"/>
                </a:solidFill>
              </a:defRPr>
            </a:pPr>
            <a:r>
              <a:t>• 提升工单解决效率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75980" y="1645920"/>
            <a:ext cx="3657600" cy="4572000"/>
          </a:xfrm>
          <a:prstGeom prst="roundRect">
            <a:avLst/>
          </a:prstGeom>
          <a:solidFill>
            <a:srgbClr val="1E293B"/>
          </a:solidFill>
          <a:ln w="25400"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075980" y="1645920"/>
            <a:ext cx="3657600" cy="137160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58860" y="1920240"/>
            <a:ext cx="32918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A855F7"/>
                </a:solidFill>
              </a:defRPr>
            </a:pPr>
            <a:r>
              <a:t>Phase 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58860" y="2377440"/>
            <a:ext cx="32918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FFFFFF"/>
                </a:solidFill>
              </a:defRPr>
            </a:pPr>
            <a:r>
              <a:t>for客户 - 自动化运维分身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58860" y="2926080"/>
            <a:ext cx="329184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400">
                <a:solidFill>
                  <a:srgbClr val="CBD5E1"/>
                </a:solidFill>
              </a:defRPr>
            </a:pPr>
            <a:r>
              <a:t>• OpenClaw + Ollama产品化</a:t>
            </a:r>
          </a:p>
          <a:p>
            <a:pPr>
              <a:spcAft>
                <a:spcPts val="1200"/>
              </a:spcAft>
              <a:defRPr sz="1400">
                <a:solidFill>
                  <a:srgbClr val="CBD5E1"/>
                </a:solidFill>
              </a:defRPr>
            </a:pPr>
            <a:r>
              <a:t>• 大数据自动化运维分身</a:t>
            </a:r>
          </a:p>
          <a:p>
            <a:pPr>
              <a:spcAft>
                <a:spcPts val="1200"/>
              </a:spcAft>
              <a:defRPr sz="1400">
                <a:solidFill>
                  <a:srgbClr val="CBD5E1"/>
                </a:solidFill>
              </a:defRPr>
            </a:pPr>
            <a:r>
              <a:t>• 私有化客户小模型</a:t>
            </a:r>
          </a:p>
          <a:p>
            <a:pPr>
              <a:spcAft>
                <a:spcPts val="1200"/>
              </a:spcAft>
              <a:defRPr sz="1400">
                <a:solidFill>
                  <a:srgbClr val="CBD5E1"/>
                </a:solidFill>
              </a:defRPr>
            </a:pPr>
            <a:r>
              <a:t>• 客户内部运维自闭环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6400800"/>
            <a:ext cx="1127729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64748B"/>
                </a:solidFill>
              </a:defRPr>
            </a:pPr>
            <a:r>
              <a:t>项目启动 | 2026年度重点 | 大数据运维团队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